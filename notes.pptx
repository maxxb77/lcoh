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8" r:id="rId4"/>
    <p:sldId id="262" r:id="rId5"/>
    <p:sldId id="259" r:id="rId6"/>
    <p:sldId id="263" r:id="rId7"/>
    <p:sldId id="260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100" d="100"/>
          <a:sy n="100" d="100"/>
        </p:scale>
        <p:origin x="144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29A4-8EA1-8C0F-AFDF-C24F42FF5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F23F2-9ADB-343F-93FC-0360CE69A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BDE75-B9EE-3776-288E-54519BCD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D2135-8BA8-9D59-DB62-A9C7EC4D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C4D23-726C-BC71-0DC9-E121BAFC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9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C18D-326C-9EB4-0172-5BD30E13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C5D88-DB47-F994-61C7-F098115A7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C74B1-5298-9B96-5620-1A7C082B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994E9-159B-F58F-5E97-A43F0D9CF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A63DB-19A9-638A-26E9-E3420104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F386-DFA0-53CB-51F5-53FFDB0F5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40BD1-2A4F-674C-BB19-7E2E01251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C399F-1ED3-B76E-C2A0-FE089FD6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4969-87CE-CF58-E79F-7510B84D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80E5-0F75-F9C3-73B0-6BC99054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AF8E-8DFA-291D-FBA1-D896584C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115C9-2455-347D-036F-7A04E9E7F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D5CFE-A33A-4B4E-D6AA-FD28FB66F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89D32-1FF4-D36E-BDD7-E0436FE8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04675-FE27-F247-D796-733737BE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99B6-BB86-7BF9-55E1-1810F4F5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0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DC-683F-6F85-4F1F-463F7DA0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8CBEC-DD48-2D66-8629-BFC5E5DB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D4B3F-BBD8-C80C-0B06-1E7079E62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A39C3-138D-FFAC-A3DF-8446F1E80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D767B-F5B2-1B61-516A-14C97EAA1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9D1AC-82D8-0920-F5CF-4C35F8F2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EBDB4-0FEA-192D-CC4A-ABAADBF2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30FCE-2A8C-3C43-F84A-D6934791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1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9882-76BD-669B-948A-39203C7D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F1F50-9C80-D814-9964-CED31520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8151E-02C6-1FDF-EDE4-4FA20A4C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0DBEA-D52B-A44A-85A6-8A56999A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D034B-8753-119D-66D4-14B67BE9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DDF2F-D0D0-8A30-D3A7-D5B23931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64F4-B77C-632B-9700-EEF92441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7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F066-B62B-4AF7-A704-E7E53DD1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3EBF0-C72A-EEA4-557C-1A90A737B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776C6-D9B3-6DEB-4C84-891A2D172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193CF-ADA6-0BF7-F899-E8EB3EBF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0430A-AAE8-BABF-39A9-AF9C59C5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3A1F2-5621-1E78-5D5A-C4AE04BA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8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A642-352E-DED8-75E4-01643CC94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29278-A803-2127-82BD-4E152DD40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DE52-2A25-6A68-1293-AF2BA9F35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C16BA-3931-0ECE-1967-14B32563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9AB03-BC7B-3790-DCC4-055C90F0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D287D-0F22-1F89-0FFA-23A6FAA4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3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BF0F-0D57-59BC-7CE2-DBB3124A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46078-C4A1-E9CB-5FDB-FE396F861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5BEAB-5264-3B93-7DDE-EAA4B4D6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F15AB-22CF-1AB5-CC8E-7531600A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6320E-0469-BE59-FA65-DA129EED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74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84EB8-E843-23B7-1F78-43B43CAAD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8A97E-145E-42DC-E796-79E024E2E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B495E-86D4-C066-1900-B19E2AC2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6061-F05C-0291-3383-DA4DAEA4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F3373-F6B7-3E91-0417-86861900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2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FC165-221F-0F4A-4A47-DFFCE333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B7EFB-2710-A398-47AE-31B643F0C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36F8-F58E-A7F4-A9B9-81E0AE8E9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9431D-EB7C-8E47-85C6-0A28844C40CB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2637-2CA0-EE38-606A-8D03BF279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88A5E-76CC-6497-1E28-A81F9A567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8DC2B-EAF9-0748-9570-797358AF3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9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9416-2449-5735-FB46-38655D73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Basically..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EBB79-A446-B9D0-43DC-F8FEF4A49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39" y="1798843"/>
            <a:ext cx="9815051" cy="37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5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36C6B8-09BE-CE74-1C77-BE670BF775B0}"/>
              </a:ext>
            </a:extLst>
          </p:cNvPr>
          <p:cNvSpPr txBox="1"/>
          <p:nvPr/>
        </p:nvSpPr>
        <p:spPr>
          <a:xfrm>
            <a:off x="8525525" y="1976643"/>
            <a:ext cx="219205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CAMBIUM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6A6A3-7A27-315E-6964-A658F7E94E94}"/>
              </a:ext>
            </a:extLst>
          </p:cNvPr>
          <p:cNvSpPr txBox="1"/>
          <p:nvPr/>
        </p:nvSpPr>
        <p:spPr>
          <a:xfrm>
            <a:off x="4263422" y="2551838"/>
            <a:ext cx="3179388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LCOH -&gt; LCOS</a:t>
            </a:r>
          </a:p>
          <a:p>
            <a:pPr algn="ctr"/>
            <a:r>
              <a:rPr lang="en-US" dirty="0"/>
              <a:t>Comparison at the county-level  Using LCOE vs Retail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.. Essentially re-producing HERO then adding LCOS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DBDF0-2893-E833-73A0-C2ADB4F82D9A}"/>
              </a:ext>
            </a:extLst>
          </p:cNvPr>
          <p:cNvSpPr txBox="1"/>
          <p:nvPr/>
        </p:nvSpPr>
        <p:spPr>
          <a:xfrm>
            <a:off x="284395" y="920620"/>
            <a:ext cx="3388296" cy="50167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FINITO cost and performance characteristics for steel production technologies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Greenheart team costs/characteristics for electrolytic hydrogen production technologies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ReEDS-FINITO CCS and H2 transport and storage assumptions</a:t>
            </a:r>
          </a:p>
          <a:p>
            <a:pPr algn="ctr"/>
            <a:r>
              <a:rPr lang="en-US" sz="1600" dirty="0"/>
              <a:t> (by BA/reservoir/technology)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SLOPE LCOE (county/technology)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EIA for average industrial natural gas and electricity prices (state)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AEO/FINITO for non-fuel and non-electricity prices (</a:t>
            </a:r>
            <a:r>
              <a:rPr lang="en-US" sz="1600" dirty="0" err="1"/>
              <a:t>cendiv</a:t>
            </a:r>
            <a:r>
              <a:rPr lang="en-US" sz="1600" dirty="0"/>
              <a:t>)</a:t>
            </a:r>
          </a:p>
          <a:p>
            <a:pPr algn="ctr"/>
            <a:r>
              <a:rPr lang="en-US" sz="1600" dirty="0"/>
              <a:t>e.g. metallurgical coal, coke, </a:t>
            </a:r>
            <a:r>
              <a:rPr lang="en-US" sz="1600" dirty="0" err="1"/>
              <a:t>ddfo</a:t>
            </a:r>
            <a:r>
              <a:rPr lang="en-US" sz="1600" dirty="0"/>
              <a:t>, 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1431FD-EE0E-7342-EB05-54E8957F41CD}"/>
                  </a:ext>
                </a:extLst>
              </p:cNvPr>
              <p:cNvSpPr txBox="1"/>
              <p:nvPr/>
            </p:nvSpPr>
            <p:spPr>
              <a:xfrm>
                <a:off x="8031860" y="2828835"/>
                <a:ext cx="3179387" cy="12003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Retail adder comparison for the lowest X% of hourly prices </a:t>
                </a:r>
              </a:p>
              <a:p>
                <a:pPr algn="ctr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∈{1%,10%, …, 100%}</m:t>
                    </m:r>
                  </m:oMath>
                </a14:m>
                <a:r>
                  <a:rPr lang="en-US" dirty="0"/>
                  <a:t> as gauged on ‘end-use costs’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1431FD-EE0E-7342-EB05-54E8957F4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860" y="2828835"/>
                <a:ext cx="3179387" cy="1200329"/>
              </a:xfrm>
              <a:prstGeom prst="rect">
                <a:avLst/>
              </a:prstGeom>
              <a:blipFill>
                <a:blip r:embed="rId2"/>
                <a:stretch>
                  <a:fillRect l="-797" t="-2083" r="-239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520B54-5D63-0C74-9841-D8EF64806DD3}"/>
              </a:ext>
            </a:extLst>
          </p:cNvPr>
          <p:cNvSpPr txBox="1"/>
          <p:nvPr/>
        </p:nvSpPr>
        <p:spPr>
          <a:xfrm>
            <a:off x="8031860" y="5108924"/>
            <a:ext cx="317938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Further sensitivities to gas prices, cost assumptions, …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60157-0E7A-AA5B-4B21-08FA616C682A}"/>
              </a:ext>
            </a:extLst>
          </p:cNvPr>
          <p:cNvSpPr txBox="1"/>
          <p:nvPr/>
        </p:nvSpPr>
        <p:spPr>
          <a:xfrm>
            <a:off x="4160141" y="4970425"/>
            <a:ext cx="352335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AEO (for gas/grid price changes), basic assumptions/permutations, CAMBIUM scenarios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15EE61-6C5F-C5C8-7EC1-712761A0CA95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672691" y="3428999"/>
            <a:ext cx="590731" cy="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675EB7-8424-38D6-16C9-3C2C22D4767F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7442810" y="3429000"/>
            <a:ext cx="589050" cy="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C162C0-9BBE-8577-E95A-909E8970240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9621553" y="2345975"/>
            <a:ext cx="1" cy="4828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D45A46-30CC-386D-E923-563DF00642BE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621554" y="4029164"/>
            <a:ext cx="0" cy="10797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EE4B5-AA41-0F9B-3A05-237B58D8BBD9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>
            <a:off x="7683500" y="5432090"/>
            <a:ext cx="34836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E9334F9-908C-E594-F54A-BB52C869CBEE}"/>
              </a:ext>
            </a:extLst>
          </p:cNvPr>
          <p:cNvSpPr txBox="1"/>
          <p:nvPr/>
        </p:nvSpPr>
        <p:spPr>
          <a:xfrm>
            <a:off x="4479082" y="1607311"/>
            <a:ext cx="14515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Subsection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6BCB6A-0EF8-63BD-078A-DDBD1C054431}"/>
              </a:ext>
            </a:extLst>
          </p:cNvPr>
          <p:cNvSpPr txBox="1"/>
          <p:nvPr/>
        </p:nvSpPr>
        <p:spPr>
          <a:xfrm>
            <a:off x="6081213" y="1607311"/>
            <a:ext cx="118077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10359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BE71-D36B-1261-B30A-7C9E62AB9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88787"/>
            <a:ext cx="9842500" cy="1325563"/>
          </a:xfrm>
        </p:spPr>
        <p:txBody>
          <a:bodyPr>
            <a:normAutofit/>
          </a:bodyPr>
          <a:lstStyle/>
          <a:p>
            <a:r>
              <a:rPr lang="en-US" dirty="0"/>
              <a:t>LCOH by electrolyzer cost assumption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F9697-B871-0860-3B5D-ADFBE1C4E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930" y="1236776"/>
            <a:ext cx="9864140" cy="533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8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46FC-B74D-5AFF-8986-2F1666D1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LCOH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AD0F1-EC0D-4095-78C9-17376508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067" y="2006600"/>
            <a:ext cx="795186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4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1476-EEBA-895B-D912-056BE90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0975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dirty="0"/>
              <a:t>LCOS by steel production technology, grid configuration, hydrogen production technology, and cost component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FA39B-C06D-AA3B-3EA0-8071FAE4A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84" y="1139609"/>
            <a:ext cx="9322832" cy="571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8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252C-3B7A-9D21-6F8F-FADFB6C5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LCOS Map – retail minus LCOE for H2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0D57B-C127-F536-01C5-4E26CF30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17688"/>
            <a:ext cx="10134600" cy="498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3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BC8E-8EE1-8F36-A447-75E2AC86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A036E-9338-5D19-9E8D-C80A9F7CB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B335-43C4-304C-57FA-65B7C53E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– LCOE from SLOPE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DC567-934F-765E-39D5-4C514A33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60" y="1551084"/>
            <a:ext cx="8973259" cy="442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87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191</Words>
  <Application>Microsoft Macintosh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Basically..</vt:lpstr>
      <vt:lpstr>PowerPoint Presentation</vt:lpstr>
      <vt:lpstr>LCOH by electrolyzer cost assumption </vt:lpstr>
      <vt:lpstr>LCOH</vt:lpstr>
      <vt:lpstr>LCOS by steel production technology, grid configuration, hydrogen production technology, and cost component</vt:lpstr>
      <vt:lpstr>LCOS Map – retail minus LCOE for H2</vt:lpstr>
      <vt:lpstr>PowerPoint Presentation</vt:lpstr>
      <vt:lpstr>Data – LCOE from SLOPE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1</cp:revision>
  <dcterms:created xsi:type="dcterms:W3CDTF">2025-07-10T18:25:58Z</dcterms:created>
  <dcterms:modified xsi:type="dcterms:W3CDTF">2025-07-10T19:08:54Z</dcterms:modified>
</cp:coreProperties>
</file>